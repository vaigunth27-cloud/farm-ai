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evaluators. FarmwiseAI is a street view urban intelligence system for Coimbatore Ward 29. We convert street photography into actionable municipal digital twins.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actual working interface. Option A allows instant street search and viewport capture; Option B handles survey upload batches. Both connect to our FastAPI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implementation status. Six core subsystems are completely operational; ground-truth re-annotation and multi-view deduplication are our active engineering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features our operational workflow flowchart. From camera ingestion to perception, spatial alignment, and municipal directives.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Diagram 1 prominently presented. Notice our decoupled design: data acquisition, preprocessing, AI inference, human verification, and municipal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dataset: 108 frames across 10 streets in Ward 29. Corridors ST09 and ST10 are kept completely unseen to rigorously evaluate model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pillars differentiate FarmwiseAI: Evidence-linked passports, dual ingestion, native multilingual sign-tax pairing, and grounded conversational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our real metrics across 34 logged validation runs. Our baseline mAP50 is 0.728. We are actively retraining on verified ground-truth to eliminate pole-vs-tree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active engineering focus is re-annotation and GPU retraining as shown in Diagram 5. Then we deploy multi-view Hungarian matching to merge cross-frame detections.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FarmwiseAI turns visual evidence into actionable municipal ledgers. We provide cities with an auditable path to digital twin governance. We now welcome questions and live demo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4114800" cy="3657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8E5C2"/>
                </a:solidFill>
                <a:latin typeface="Segoe UI"/>
              </a:defRPr>
            </a:pPr>
            <a:r>
              <a:t>SMART CITY URBAN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Trebuchet MS"/>
              </a:defRPr>
            </a:pPr>
            <a:r>
              <a:t>FarmwiseAI — Street View Urban Intelligence</a:t>
            </a:r>
          </a:p>
          <a:p>
            <a:pPr>
              <a:spcBef>
                <a:spcPts val="800"/>
              </a:spcBef>
              <a:defRPr sz="1600">
                <a:solidFill>
                  <a:srgbClr val="38BDF8"/>
                </a:solidFill>
                <a:latin typeface="Segoe UI"/>
              </a:defRPr>
            </a:pPr>
            <a:r>
              <a:t>AI-Driven Street-Level Perception, Geospatial Asset Passports &amp; Municipal Actionability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74720"/>
            <a:ext cx="3291840" cy="2377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6118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Study Area &amp;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77639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Ward 29, North Zone, Coimbatore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108 Verified Frames across 10 Corridors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High-density Tier-II Indian urban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474720"/>
            <a:ext cx="3291840" cy="2377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6118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Core Perceptual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977639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Ultralytics YOLO11 (12 Urban Classes)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EasyOCR Multilingual Text Recognition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ExifRead Camera Geotagging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474720"/>
            <a:ext cx="3291840" cy="2377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36118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Municipal Actionability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3977639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CCMC Commercial Property Tax Audits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TANGEDCO Feeder Electrical Work Orders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Streetlight Infill &amp; Public Safety Directives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LIVE OPERATIONAL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Actual Working Product: Master Redesign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Dual-option street intelligence seamlessly integrated into the unified municipal portal.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57200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Verified Dual-Option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48E5C2"/>
                </a:solidFill>
                <a:latin typeface="Segoe UI"/>
              </a:defRPr>
            </a:pPr>
            <a:r>
              <a:t>Option A — Find a Place &amp; Capture Street View: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Location search field supporting street names, landmarks, and temples in Coimbatore with interactive Leaflet map and live Canvas viewport snapshot capture.</a:t>
            </a:r>
          </a:p>
          <a:p>
            <a:pPr>
              <a:spcBef>
                <a:spcPts val="600"/>
              </a:spcBef>
              <a:defRPr sz="1200" b="1">
                <a:solidFill>
                  <a:srgbClr val="48E5C2"/>
                </a:solidFill>
                <a:latin typeface="Segoe UI"/>
              </a:defRPr>
            </a:pPr>
            <a:r>
              <a:t>Option B — Upload Street Images &amp; Analyze: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Multi-image drag-and-drop file queue with EXIF GPS extraction and corridor batch processing.</a:t>
            </a:r>
          </a:p>
          <a:p>
            <a:pPr>
              <a:spcBef>
                <a:spcPts val="600"/>
              </a:spcBef>
              <a:defRPr sz="1200" b="1">
                <a:solidFill>
                  <a:srgbClr val="48E5C2"/>
                </a:solidFill>
                <a:latin typeface="Segoe UI"/>
              </a:defRPr>
            </a:pPr>
            <a:r>
              <a:t>Shared AI Perception Engine: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Both options send imagery to a shared FastAPI backend running YOLO11 and EasyOCR.</a:t>
            </a:r>
          </a:p>
          <a:p>
            <a:pPr>
              <a:spcBef>
                <a:spcPts val="600"/>
              </a:spcBef>
              <a:defRPr sz="1200" b="1">
                <a:solidFill>
                  <a:srgbClr val="48E5C2"/>
                </a:solidFill>
                <a:latin typeface="Segoe UI"/>
              </a:defRPr>
            </a:pPr>
            <a:r>
              <a:t>Zero-Breakage Architecture: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All existing pages, standalone studios, and municipal scorecards remain 100% preserved.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585216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783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Live Interface Preview (Verified Prototype)</a:t>
            </a:r>
          </a:p>
        </p:txBody>
      </p:sp>
      <p:pic>
        <p:nvPicPr>
          <p:cNvPr id="11" name="Picture 10" descr="screenshot_street_intelligence_results_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SYSTEM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Key Implemented Features vs Planned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Architectural transparency: working code vs in-progress modules.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280160" cy="228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8E5C2"/>
                </a:solidFill>
              </a:defRPr>
            </a:pPr>
            <a:r>
              <a:t>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Dual Ingestion Modalities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Option A (Map Canvas Capture) &amp; Option B (Batch File Upload) with local thumbnail queue.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1783080"/>
            <a:ext cx="1280160" cy="228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8E5C2"/>
                </a:solidFill>
              </a:defRPr>
            </a:pPr>
            <a:r>
              <a:t>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84832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FastAPI Backend Service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Hosts /health, /api/analyze-street, and /api/chat with dynamic GPU/CPU device dispatch.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56032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1280160" cy="228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8E5C2"/>
                </a:solidFill>
              </a:defRPr>
            </a:pPr>
            <a:r>
              <a:t>IMPLEMENTED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084832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YOLO11 Object Perception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12 urban infrastructure classes (buildings, poles, streetlights, signs, transformers).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45920"/>
            <a:ext cx="256032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0" y="1783080"/>
            <a:ext cx="1280160" cy="228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8E5C2"/>
                </a:solidFill>
              </a:defRPr>
            </a:pPr>
            <a:r>
              <a:t>IMPLEMENTED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084832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EasyOCR Multilingual Engine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Tamil &amp; English commercial signboard extraction for municipal business tax audits.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69080"/>
            <a:ext cx="256032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206240"/>
            <a:ext cx="1280160" cy="228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8E5C2"/>
                </a:solidFill>
              </a:defRPr>
            </a:pPr>
            <a:r>
              <a:t>IMPLEMENTED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07992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Urban AI Agent (RAG Chat)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Contextual conversational assistant citing exact corridor scorecards and ledgers.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069080"/>
            <a:ext cx="256032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66160" y="4206240"/>
            <a:ext cx="1280160" cy="228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8E5C2"/>
                </a:solidFill>
              </a:defRPr>
            </a:pPr>
            <a:r>
              <a:t>IMPLEMENTED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507992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Municipal Action Reports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CCMC Property Tax Ledgers, TANGEDCO Work Orders, and Streetlight Infill Directives.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069080"/>
            <a:ext cx="256032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63640" y="4206240"/>
            <a:ext cx="1280160" cy="228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0A96D"/>
                </a:solidFill>
              </a:defRPr>
            </a:pPr>
            <a:r>
              <a:t>ONGOING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507992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Active Dataset Annotation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Manual bounding box refinement on all 108 corridor frames with verified ground-truth labels.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4069080"/>
            <a:ext cx="256032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61120" y="4206240"/>
            <a:ext cx="1280160" cy="228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0A96D"/>
                </a:solidFill>
              </a:defRPr>
            </a:pPr>
            <a:r>
              <a:t>PARTIAL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507992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Cross-Frame Deduplication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5m spatial buffer active; multi-view Hungarian matching algorithm planned.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OPERATIONAL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End-to-End Workflow: From Street Image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How raw imagery transforms into verifiable municipal work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Operational Workflow Flowchart</a:t>
            </a:r>
          </a:p>
        </p:txBody>
      </p:sp>
      <p:pic>
        <p:nvPicPr>
          <p:cNvPr id="8" name="Picture 7" descr="10_user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4937760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645920"/>
            <a:ext cx="512064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Key Operational Phases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1">
                <a:solidFill>
                  <a:srgbClr val="E0A96D"/>
                </a:solidFill>
                <a:latin typeface="Segoe UI"/>
              </a:defRPr>
            </a:pPr>
            <a:r>
              <a:t>1. Dual Ingestion Modality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User searches location on map to capture live street view (Option A), or drops multi-frame survey images with EXIF GPS parsing (Option B).</a:t>
            </a:r>
          </a:p>
          <a:p>
            <a:pPr>
              <a:spcBef>
                <a:spcPts val="800"/>
              </a:spcBef>
              <a:defRPr sz="1200" b="1">
                <a:solidFill>
                  <a:srgbClr val="E0A96D"/>
                </a:solidFill>
                <a:latin typeface="Segoe UI"/>
              </a:defRPr>
            </a:pPr>
            <a:r>
              <a:t>2. Automated AI Perception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YOLO11 infers 12 classes in ~40ms. EasyOCR transcribes Tamil &amp; English commercial signage names.</a:t>
            </a:r>
          </a:p>
          <a:p>
            <a:pPr>
              <a:spcBef>
                <a:spcPts val="800"/>
              </a:spcBef>
              <a:defRPr sz="1200" b="1">
                <a:solidFill>
                  <a:srgbClr val="E0A96D"/>
                </a:solidFill>
                <a:latin typeface="Segoe UI"/>
              </a:defRPr>
            </a:pPr>
            <a:r>
              <a:t>3. Spatial Topology Alignment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Ground contact point is snapped to the nearest corridor polyline in road_network_topology.geojson.</a:t>
            </a:r>
          </a:p>
          <a:p>
            <a:pPr>
              <a:spcBef>
                <a:spcPts val="800"/>
              </a:spcBef>
              <a:defRPr sz="1200" b="1">
                <a:solidFill>
                  <a:srgbClr val="E0A96D"/>
                </a:solidFill>
                <a:latin typeface="Segoe UI"/>
              </a:defRPr>
            </a:pPr>
            <a:r>
              <a:t>4. Municipal Actionability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Mints unique Urban Asset Passports and populates CCMC Property Tax Ledgers and TANGEDCO Feeder Work Orders.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Diagram 1: End-to-End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Decoupled perception, spatial topology, human verification, and municipal action tiers.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7498079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713231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Overall Architecture Blueprint (Diagram 1)</a:t>
            </a:r>
          </a:p>
        </p:txBody>
      </p:sp>
      <p:pic>
        <p:nvPicPr>
          <p:cNvPr id="8" name="Picture 7" descr="01_overal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7132320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03920" y="1645920"/>
            <a:ext cx="292608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78308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Architectural 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10312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50" b="1">
                <a:solidFill>
                  <a:srgbClr val="48E5C2"/>
                </a:solidFill>
                <a:latin typeface="Segoe UI"/>
              </a:defRPr>
            </a:pPr>
            <a:r>
              <a:t>Decoupled Design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Frontend SPA communicates asynchronously with FastAPI via REST.</a:t>
            </a:r>
          </a:p>
          <a:p>
            <a:pPr>
              <a:spcBef>
                <a:spcPts val="600"/>
              </a:spcBef>
              <a:defRPr sz="1150" b="1">
                <a:solidFill>
                  <a:srgbClr val="48E5C2"/>
                </a:solidFill>
                <a:latin typeface="Segoe UI"/>
              </a:defRPr>
            </a:pPr>
            <a:r>
              <a:t>Zero Cloud Lock-in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Runs 100% offline on local municipal intranet hardware.</a:t>
            </a:r>
          </a:p>
          <a:p>
            <a:pPr>
              <a:spcBef>
                <a:spcPts val="600"/>
              </a:spcBef>
              <a:defRPr sz="1150" b="1">
                <a:solidFill>
                  <a:srgbClr val="48E5C2"/>
                </a:solidFill>
                <a:latin typeface="Segoe UI"/>
              </a:defRPr>
            </a:pPr>
            <a:r>
              <a:t>Human Verification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Tri-View slider review enables active learning and QA validation.</a:t>
            </a:r>
          </a:p>
          <a:p>
            <a:pPr>
              <a:spcBef>
                <a:spcPts val="600"/>
              </a:spcBef>
              <a:defRPr sz="1150" b="1">
                <a:solidFill>
                  <a:srgbClr val="48E5C2"/>
                </a:solidFill>
                <a:latin typeface="Segoe UI"/>
              </a:defRPr>
            </a:pPr>
            <a:r>
              <a:t>Topological GIS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Spatial association engine binds 2D boxes to vector GeoJSON corridors.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AI PERCEPTION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12-Class Urban Taxonomy &amp; Empirical Corridor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Curated baseline across 10 distinct urban corridors in Ward 29, Coimbatore.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Empirical Dataset (108 Verified Frames)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ST01: Gopalasamy Kovil Street: 10 frames (Mixed commercial &amp; temple approach)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ST02: Gandhi Nagar: 11 frames (Residential layout, regular poles)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ST03: Ganapathy Pudur 3rd Street: 10 frames (Medium density residential)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ST04: Sridevi Nagar 4th Street: 11 frames (High tree canopy encroachment)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ST05: Bharathi Nagar / Sathy Rd: 10 frames (Arterial commercial transition)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ST06: Sanganur Canal Road: 13 frames (Open drainage canal, utility dense)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ST07: Patel Road / PN Palayam: 10 frames (Dense retail storefronts &amp; hoardings)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ST08: Raja Street - Sanganur Rd: 20 frames (Major arterial corridor)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ST09: Sri Ganapathy Gardens: 6 frames (Residential cul-de-sac) [UNSEEN TEST]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ST10: Avaram Palayam Street: 7 frames (Industrial commercial) [UNSEEN TEST]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45920"/>
            <a:ext cx="539496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Actual Model Prediction &amp; Bounding Boxes</a:t>
            </a:r>
          </a:p>
        </p:txBody>
      </p:sp>
      <p:pic>
        <p:nvPicPr>
          <p:cNvPr id="11" name="Picture 10" descr="screenshot_studio_model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5740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INNOVATION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Key Innovations: Beyond Generic Object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Purpose-built for Indian urban governance bottlenecks.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Evidence-Linked Passports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Every physical asset is assigned a unique UID (e.g. AST-ST01-POLE-004), binding its pixel crop, GPS pin, and corridor segment directly to audit notices.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21208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Dual-Tier Ingestion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48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Solves the trade-off between live inspection of reported complaints (Option A) and city-wide survey vehicle uploads (Option B).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1208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Multilingual Sign-Tax Pairing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Extracts Tamil and English text from commercial signages using EasyOCR, cross-referencing names against property tax registries to detect unassessed hoardings.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069080"/>
            <a:ext cx="521208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2062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Grounded RAG Urban AI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Unlike generic LLMs that hallucinate, our conversational agent retrieves factual data strictly from verified municipal ledgers and scorecards.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EXPERIMENTAL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Prototype Metrics &amp; Engineering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Honest evaluation metrics supported by files in runs/detect/.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Logged Prototype Validation Metrics (34 Runs)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8E5C2"/>
                </a:solidFill>
                <a:latin typeface="Segoe UI"/>
              </a:defRPr>
            </a:pPr>
            <a:r>
              <a:t>Overall mAP@0.50 (all classes): 0.728 (Logged baseline in runs/detect)</a:t>
            </a:r>
          </a:p>
          <a:p>
            <a:pPr>
              <a:spcAft>
                <a:spcPts val="4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Building Facade Detection: Precision 0.892 | Recall 0.865 | mAP 0.884</a:t>
            </a:r>
          </a:p>
          <a:p>
            <a:pPr>
              <a:spcAft>
                <a:spcPts val="4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Electric Pole Detection: Precision 0.741 | Recall 0.680 | mAP 0.715</a:t>
            </a:r>
          </a:p>
          <a:p>
            <a:pPr>
              <a:spcAft>
                <a:spcPts val="4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Commercial Signage: Precision 0.812 | Recall 0.789 | mAP 0.825</a:t>
            </a:r>
          </a:p>
          <a:p>
            <a:pPr>
              <a:spcAft>
                <a:spcPts val="4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Streetlight Luminaires: Precision 0.718 | Recall 0.625 | mAP 0.669</a:t>
            </a:r>
          </a:p>
          <a:p>
            <a:pPr>
              <a:spcAft>
                <a:spcPts val="4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Distribution Transformers: Precision 0.760 | Recall 0.700 | mAP 0.742</a:t>
            </a:r>
          </a:p>
          <a:p>
            <a:pPr>
              <a:spcBef>
                <a:spcPts val="800"/>
              </a:spcBef>
              <a:defRPr sz="950" i="1">
                <a:solidFill>
                  <a:srgbClr val="E0A96D"/>
                </a:solidFill>
              </a:defRPr>
            </a:pPr>
            <a:r>
              <a:t>Note: These represent prototype baseline validation passes. Re-annotation and retraining on verified labels is actively ongoing.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Validation Runs Diagnostic Curves</a:t>
            </a:r>
          </a:p>
        </p:txBody>
      </p:sp>
      <p:pic>
        <p:nvPicPr>
          <p:cNvPr id="11" name="Picture 10" descr="screenshot_studio_validation_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3120"/>
            <a:ext cx="48463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ROADMAP &amp; ONGOING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Active Engineering &amp; Next Technical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Current priorities: verified ground truth, 100-epoch GPU retraining, and multi-view matching.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Active Annotation &amp; Retraining Flow</a:t>
            </a:r>
          </a:p>
        </p:txBody>
      </p:sp>
      <p:pic>
        <p:nvPicPr>
          <p:cNvPr id="8" name="Picture 7" descr="05_annotation_trainin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5120640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1645920"/>
            <a:ext cx="493776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830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Strategic Milestone Progression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50" b="1">
                <a:solidFill>
                  <a:srgbClr val="E0A96D"/>
                </a:solidFill>
                <a:latin typeface="Segoe UI"/>
              </a:defRPr>
            </a:pPr>
            <a:r>
              <a:t>Phase 1: Ground Truth Labeling [ACTIVE]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Manually re-verifying bounding boxes across all 108 frames to ensure tight boundaries and resolve pole/foliage confusion.</a:t>
            </a:r>
          </a:p>
          <a:p>
            <a:pPr>
              <a:spcBef>
                <a:spcPts val="600"/>
              </a:spcBef>
              <a:defRPr sz="1150" b="1">
                <a:solidFill>
                  <a:srgbClr val="48E5C2"/>
                </a:solidFill>
                <a:latin typeface="Segoe UI"/>
              </a:defRPr>
            </a:pPr>
            <a:r>
              <a:t>Phase 2: 100-Epoch GPU Retrain [NEXT SPRINT]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Execute full PyTorch fine-tuning on Colab T4 / EC2 G4dn targeting mAP50 &gt;= 0.75 on unseen test corridors ST09 &amp; ST10.</a:t>
            </a:r>
          </a:p>
          <a:p>
            <a:pPr>
              <a:spcBef>
                <a:spcPts val="600"/>
              </a:spcBef>
              <a:defRPr sz="1150" b="1">
                <a:solidFill>
                  <a:srgbClr val="48E5C2"/>
                </a:solidFill>
                <a:latin typeface="Segoe UI"/>
              </a:defRPr>
            </a:pPr>
            <a:r>
              <a:t>Phase 3: Multi-View Matching [PLANNED]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Deploy Hungarian matching algorithm on visual embeddings to merge duplicate observations from moving dashcams.</a:t>
            </a:r>
          </a:p>
          <a:p>
            <a:pPr>
              <a:spcBef>
                <a:spcPts val="600"/>
              </a:spcBef>
              <a:defRPr sz="1150" b="1">
                <a:solidFill>
                  <a:srgbClr val="48E5C2"/>
                </a:solidFill>
                <a:latin typeface="Segoe UI"/>
              </a:defRPr>
            </a:pPr>
            <a:r>
              <a:t>Phase 4: City-Wide Scaling [LONG-TERM]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Scale from Ward 29 pilot to all 100 wards of Coimbatore City Municipal Corporation via AWS Serverless cloud.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CONCLUSION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Transforming Urban Governance with Visual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From subjective manual surveys to auditable municipal digital twins.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Municipal Revenue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Uncovers unassessed commercial hoarding and floor expansions through multilingual OCR and building facade analysis, recovering critical municipal revenue for CCMC.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21208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Public Electrical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48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Identifies leaning electric poles and vegetation encroachment near distribution transformers before monsoons, preventing power outages and electrocution hazards.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1208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Nighttime Mobility &amp;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Pinpoints unlit poles and dark-spot intervals (&gt; 35m) to direct priority streetlight infill, enhancing pedestrian safety and women's nighttime mobility.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069080"/>
            <a:ext cx="521208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2062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100% Offline &amp; Auditable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Runs locally on municipal infrastructure without third-party cloud lock-in. Every work order attaches verifiable image crops, eliminating departmental disputes.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