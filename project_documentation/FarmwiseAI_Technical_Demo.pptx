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evaluators. FarmwiseAI is a street view urban intelligence system for Coimbatore Ward 29. We convert street photography into actionable municipal digital twins.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actual working interface. Option A allows instant street search and viewport capture; Option B handles survey upload batches. Both connect to our FastAPI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implementation status. Six core subsystems are completely operational; ground-truth re-annotation and multi-view deduplication are our active engineering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demonstrates our complete four-step pipeline. Notice that our output is not just a bounding box—it directly generates commercial tax ledgers and electric feeder work orders.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Diagram 1. Notice the strict separation of concerns: our UI handles dual-mode ingestion, our FastAPI backend manages perception, and our spatial tier links assets to municipal ledgers.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our dataset: 108 frames across 10 streets in Ward 29. Notice Corridors ST09 and ST10 are reserved as completely unseen test corridors to evaluate model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pillars differentiate FarmwiseAI: Evidence-linked passports, dual ingestion, native multilingual sign-tax pairing, and grounded conversational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our real metrics across 34 logged validation runs. Our baseline mAP50 is 0.728. We are actively retraining on verified ground-truth to eliminate pole-vs-tree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active engineering focus is re-annotation and GPU retraining. Then we deploy multi-view Hungarian matching to merge cross-frame detections.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FarmwiseAI turns visual evidence into actionable municipal ledgers. We provide cities with an auditable path to digital twin governance. We now welcome questions and live demo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4114800" cy="36576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8E5C2"/>
                </a:solidFill>
                <a:latin typeface="Segoe UI"/>
              </a:defRPr>
            </a:pPr>
            <a:r>
              <a:t>SMART CITY URBAN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FarmwiseAI — Street View Urban Intelligence</a:t>
            </a:r>
          </a:p>
          <a:p>
            <a:pPr>
              <a:spcBef>
                <a:spcPts val="800"/>
              </a:spcBef>
              <a:defRPr sz="1600">
                <a:solidFill>
                  <a:srgbClr val="38BDF8"/>
                </a:solidFill>
                <a:latin typeface="Segoe UI"/>
              </a:defRPr>
            </a:pPr>
            <a:r>
              <a:t>AI-Driven Street-Level Perception, Geospatial Asset Passports &amp; Municipal Actionability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Study Area &amp;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Ward 29, North Zone, Coimbatore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108 Verified Frames across 10 Corridors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High-density Tier-II Indian urban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Core Perceptual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Ultralytics YOLO11 (12 Urban Classes)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EasyOCR Multilingual Text Recognition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ExifRead Camera Geotagging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74720"/>
            <a:ext cx="3291840" cy="237744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361188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Municipal Actionability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397763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CCMC Commercial Property Tax Audits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TANGEDCO Feeder Electrical Work Orders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• Streetlight Infill &amp; Public Safety Directives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LIVE OPERATIONAL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Actual Working Product: Master Redesign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Dual-option street intelligence seamlessly integrated into the unified municipal portal.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5720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Verified Dual-Option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206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Option A — Find a Place &amp; Capture Street View: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Location search field supporting street names, landmarks, and temples in Coimbatore with interactive Leaflet map and live Canvas viewport snapshot capture.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Option B — Upload Street Images &amp; Analyze: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Multi-image drag-and-drop file queue with EXIF GPS extraction and corridor batch processing.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Shared AI Perception Engine: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Both options send imagery to a shared FastAPI backend running YOLO11 and EasyOCR.</a:t>
            </a:r>
          </a:p>
          <a:p>
            <a:pPr>
              <a:spcBef>
                <a:spcPts val="600"/>
              </a:spcBef>
              <a:defRPr sz="1200" b="1">
                <a:solidFill>
                  <a:srgbClr val="48E5C2"/>
                </a:solidFill>
                <a:latin typeface="Segoe UI"/>
              </a:defRPr>
            </a:pPr>
            <a:r>
              <a:t>Zero-Breakage Architecture: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All existing pages, standalone studios, and municipal scorecards remain 100% preserved.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645920"/>
            <a:ext cx="585216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Live Interface Preview (Verified Prototype)</a:t>
            </a:r>
          </a:p>
        </p:txBody>
      </p:sp>
      <p:pic>
        <p:nvPicPr>
          <p:cNvPr id="11" name="Picture 10" descr="screenshot_street_intelligence_results_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10312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SYSTEM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Key Implemented Features vs Planned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Architectural transparency: working code vs in-progress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Dual Ingestion Modalities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Option A (Map Canvas Capture) &amp; Option B (Batch File Upload) with local thumbnail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FastAPI Backend Service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Hosts /health, /api/analyze-street, and /api/chat with dynamic GPU/CPU device dispatch.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YOLO11 Object Perception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12 urban infrastructure classes (buildings, poles, streetlights, signs, transformers).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78308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8483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EasyOCR Multilingual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Tamil &amp; English commercial signboard extraction for municipal business tax audits.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868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Urban AI Agent (RAG Chat)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Contextual conversational assistant citing exact corridor scorecards and ledgers.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6616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IMPLEMENTED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Municipal Action Reports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CCMC Property Tax Ledgers, TANGEDCO Work Orders, and Streetlight Infill Directives.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6364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0A96D"/>
                </a:solidFill>
              </a:defRPr>
            </a:pPr>
            <a:r>
              <a:t>ONGOING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Active Dataset Annotation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Manual bounding box refinement on all 108 corridor frames with verified ground-truth labels.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4069080"/>
            <a:ext cx="256032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1120" y="4206240"/>
            <a:ext cx="1280160" cy="228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0A96D"/>
                </a:solidFill>
              </a:defRPr>
            </a:pPr>
            <a: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507992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Cross-Frame Deduplication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  <a:latin typeface="Segoe UI"/>
              </a:defRPr>
            </a:pPr>
            <a:r>
              <a:t>5m spatial buffer active; multi-view Hungarian matching algorithm planned.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OPERATIONAL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End-to-End Workflow: From Street Image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How raw imagery transforms into verifiable municipal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1. 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Capture live street view via Option A canvas snapshot, or drop survey photo batches via Option B.</a:t>
            </a:r>
          </a:p>
          <a:p>
            <a:pPr>
              <a:spcBef>
                <a:spcPts val="800"/>
              </a:spcBef>
              <a:defRPr sz="950" b="1">
                <a:solidFill>
                  <a:srgbClr val="E0A96D"/>
                </a:solidFill>
                <a:latin typeface="Segoe UI"/>
              </a:defRPr>
            </a:pPr>
            <a:r>
              <a:t>Input: Image + GPS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783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2. Perception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YOLO11 infers 12 infrastructure classes. EasyOCR extracts multilingual signboard text.</a:t>
            </a:r>
          </a:p>
          <a:p>
            <a:pPr>
              <a:spcBef>
                <a:spcPts val="800"/>
              </a:spcBef>
              <a:defRPr sz="950" b="1">
                <a:solidFill>
                  <a:srgbClr val="E0A96D"/>
                </a:solidFill>
                <a:latin typeface="Segoe UI"/>
              </a:defRPr>
            </a:pPr>
            <a:r>
              <a:t>Inference: ~40ms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3. Spatial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Bottom-center bounding box snaps to corridor centerline. Spatial buffer links nearby assets.</a:t>
            </a:r>
          </a:p>
          <a:p>
            <a:pPr>
              <a:spcBef>
                <a:spcPts val="800"/>
              </a:spcBef>
              <a:defRPr sz="950" b="1">
                <a:solidFill>
                  <a:srgbClr val="E0A96D"/>
                </a:solidFill>
                <a:latin typeface="Segoe UI"/>
              </a:defRPr>
            </a:pPr>
            <a:r>
              <a:t>Topology: GeoJSON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78308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4. Actionability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0312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Mints Urban Asset Passports. Populates CCMC property tax ledgers and TANGEDCO work orders.</a:t>
            </a:r>
          </a:p>
          <a:p>
            <a:pPr>
              <a:spcBef>
                <a:spcPts val="800"/>
              </a:spcBef>
              <a:defRPr sz="950" b="1">
                <a:solidFill>
                  <a:srgbClr val="E0A96D"/>
                </a:solidFill>
                <a:latin typeface="Segoe UI"/>
              </a:defRPr>
            </a:pPr>
            <a:r>
              <a:t>Output: CSV / Directives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5303520" cy="2468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Verified Analysis Output (Option A)</a:t>
            </a:r>
          </a:p>
        </p:txBody>
      </p:sp>
      <p:pic>
        <p:nvPicPr>
          <p:cNvPr id="20" name="Picture 19" descr="screenshot_option_a_capture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343400"/>
            <a:ext cx="4937760" cy="19202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Automated Municipal Ledgers Generated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 b="1">
                <a:solidFill>
                  <a:srgbClr val="48E5C2"/>
                </a:solidFill>
                <a:latin typeface="Segoe UI"/>
              </a:defRPr>
            </a:pPr>
            <a:r>
              <a:t>CCMC Commercial Tax Ledger: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Flags unassessed exterior commercial signages and floor additions with calculated annual tax penalties in INR.</a:t>
            </a:r>
          </a:p>
          <a:p>
            <a:pPr>
              <a:spcBef>
                <a:spcPts val="400"/>
              </a:spcBef>
              <a:defRPr sz="1100" b="1">
                <a:solidFill>
                  <a:srgbClr val="48E5C2"/>
                </a:solidFill>
                <a:latin typeface="Segoe UI"/>
              </a:defRPr>
            </a:pPr>
            <a:r>
              <a:t>TANGEDCO Feeder Work Orders: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Identifies hazardous leaning poles (angle &gt; 10 deg) and low-clearance transformers for repair crew dispatch.</a:t>
            </a:r>
          </a:p>
          <a:p>
            <a:pPr>
              <a:spcBef>
                <a:spcPts val="400"/>
              </a:spcBef>
              <a:defRPr sz="1100" b="1">
                <a:solidFill>
                  <a:srgbClr val="48E5C2"/>
                </a:solidFill>
                <a:latin typeface="Segoe UI"/>
              </a:defRPr>
            </a:pPr>
            <a:r>
              <a:t>Streetlight Infill Directives: 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Highlights unlit poles and dark-spot intervals (&gt; 35m) violating nighttime pedestrian safety norms.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Diagram 1: End-to-End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Decoupled client-server architecture with hardware acceleration and offline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Data Acquisition &amp;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Option A: Place Search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Leaflet/MapLibre viewport with HTML5 canvas pixel capture.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Option B: Batch Upload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Multi-file queue with EXIF GPS coordinate extraction.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Standalone Studios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Tri-View verification, OCR search index, building 3D viewer.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4290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FastAPI Perception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Ultralytics YOLO11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YOLO11s/best.pt 12-class infrastructure detector (640x640).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EasyOCR Engine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Tamil + English CRAFT text detector with BiLSTM recognizer.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Urban AI Agent (RAG)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Zero-shot query router grounded in master municipal ledgers.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645920"/>
            <a:ext cx="342900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783080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Spatial &amp; Storage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Topological Alignment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snapping to road_network_topology.geojson centerlines.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Urban Asset Passports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Unique asset IDs, observation counts, and photo evidence.</a:t>
            </a:r>
          </a:p>
          <a:p>
            <a:pPr>
              <a:spcBef>
                <a:spcPts val="800"/>
              </a:spcBef>
              <a:defRPr sz="1200" b="1">
                <a:solidFill>
                  <a:srgbClr val="E0A96D"/>
                </a:solidFill>
                <a:latin typeface="Segoe UI"/>
              </a:defRPr>
            </a:pPr>
            <a:r>
              <a:t>Government Ledgers</a:t>
            </a:r>
          </a:p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t>Standardized CSVs for CCMC tax and TANGEDCO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AI PERCEPTION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12-Class Urban Taxonomy &amp; Empirical Corridor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Curated baseline across 10 distinct urban corridors in Ward 29, Coimbatore.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Empirical Dataset (108 Verified Frames)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ST01: Gopalasamy Kovil Street: 10 frames (Mixed commercial &amp; temple approach)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ST02: Gandhi Nagar: 11 frames (Residential layout, regular poles)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ST03: Ganapathy Pudur 3rd Street: 10 frames (Medium density residential)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ST04: Sridevi Nagar 4th Street: 11 frames (High tree canopy encroachment)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ST05: Bharathi Nagar / Sathy Rd: 10 frames (Arterial commercial transition)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ST06: Sanganur Canal Road: 13 frames (Open drainage canal, utility dense)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ST07: Patel Road / PN Palayam: 10 frames (Dense retail storefronts &amp; hoardings)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ST08: Raja Street - Sanganur Rd: 20 frames (Major arterial corridor)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ST09: Sri Ganapathy Gardens: 6 frames (Residential cul-de-sac) [UNSEEN TEST]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ST10: Avaram Palayam Street: 7 frames (Industrial commercial) [UNSEEN TEST]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45920"/>
            <a:ext cx="539496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Actual Model Prediction &amp; Bounding Boxes</a:t>
            </a:r>
          </a:p>
        </p:txBody>
      </p:sp>
      <p:pic>
        <p:nvPicPr>
          <p:cNvPr id="11" name="Picture 10" descr="screenshot_studio_model_pred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5740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INNOVATION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Key Innovations: Beyond Generic Object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Purpose-built for Indian urban governance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Evidence-Linked Passports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Every physical asset is assigned a unique UID (e.g. AST-ST01-POLE-004), binding its pixel crop, GPS pin, and corridor segment directly to audit notices.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Dual-Tier Ingestion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Solves the trade-off between live inspection of reported complaints (Option A) and city-wide survey vehicle uploads (Option B).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Multilingual Sign-Tax Pairing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Extracts Tamil and English text from commercial signages using EasyOCR, cross-referencing names against property tax registries to detect unassessed hoardings.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Grounded RAG Urban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Unlike generic LLMs that hallucinate, our conversational agent retrieves factual data strictly from verified municipal ledgers and scorecards.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EXPERIMENTAL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Prototype Metrics &amp; Engineering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Honest evaluation metrics supported by files in runs/detect/.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Logged Prototype Validation Metrics (34 Runs)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8E5C2"/>
                </a:solidFill>
                <a:latin typeface="Segoe UI"/>
              </a:defRPr>
            </a:pPr>
            <a:r>
              <a:t>Overall mAP@0.50 (all classes): 0.728 (Logged baseline in runs/detect)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Building Facade Detection: Precision 0.892 | Recall 0.865 | mAP 0.884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Electric Pole Detection: Precision 0.741 | Recall 0.680 | mAP 0.715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Commercial Signage: Precision 0.812 | Recall 0.789 | mAP 0.825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Streetlight Luminaires: Precision 0.718 | Recall 0.625 | mAP 0.669</a:t>
            </a:r>
          </a:p>
          <a:p>
            <a:pPr>
              <a:spcAft>
                <a:spcPts val="4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Distribution Transformers: Precision 0.760 | Recall 0.700 | mAP 0.742</a:t>
            </a:r>
          </a:p>
          <a:p>
            <a:pPr>
              <a:spcBef>
                <a:spcPts val="800"/>
              </a:spcBef>
              <a:defRPr sz="950" i="1">
                <a:solidFill>
                  <a:srgbClr val="E0A96D"/>
                </a:solidFill>
              </a:defRPr>
            </a:pPr>
            <a:r>
              <a:t>Note: These represent prototype baseline validation passes. Re-annotation and retraining on verified labels is actively ongoing.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Validation Runs Diagnostic Curves</a:t>
            </a:r>
          </a:p>
        </p:txBody>
      </p:sp>
      <p:pic>
        <p:nvPicPr>
          <p:cNvPr id="11" name="Picture 10" descr="screenshot_studio_validation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48463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ROADMAP &amp; ONGOING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Active Engineering &amp; Next Technical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Current priorities: verified ground truth, 100-epoch GPU retraining, and multi-view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194560" cy="274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0A96D"/>
                </a:solidFill>
              </a:defRPr>
            </a:pPr>
            <a:r>
              <a:t>ONGOING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Phase 1: Active Annotation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Manually re-verifying bounding boxes across all 108 frames to ensure tight boundaries and resolve pole/foliage confusion.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5603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1828800"/>
            <a:ext cx="2194560" cy="274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48E5C2"/>
                </a:solidFill>
              </a:defRPr>
            </a:pPr>
            <a:r>
              <a:t>NEXT IMMEDIATE SPRINT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Phase 2: 100-Epoch GPU Retrain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Execute full PyTorch fine-tuning on Colab T4 / EC2 G4dn targeting mAP50 &gt;= 0.75 on unseen test corridors ST09 &amp; ST10.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25603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194560" cy="274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38BDF8"/>
                </a:solidFill>
              </a:defRPr>
            </a:pPr>
            <a:r>
              <a:t>PLANNED UPGRADE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Phase 3: Multi-View Matching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Deploy Hungarian matching algorithm on visual embeddings to merge duplicate observations from moving dashcams.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645920"/>
            <a:ext cx="2560320" cy="47548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1828800"/>
            <a:ext cx="2194560" cy="2743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LONG-TERM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24028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Phase 4: City-Wide Expansion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Scale from Ward 29 pilot to all 100 wards of Coimbatore City Municipal Corporation via AWS Serverless cloud.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E5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defRPr sz="1000" b="1">
                <a:solidFill>
                  <a:srgbClr val="48E5C2"/>
                </a:solidFill>
                <a:latin typeface="Segoe UI"/>
              </a:defRPr>
            </a:pPr>
            <a:r>
              <a:t>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Transforming Urban Governance with Visual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From subjective manual surveys to auditable municipal digital twins.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Municipal Revenue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Uncovers unassessed commercial hoarding and floor expansions through multilingual OCR and building facade analysis, recovering critical municipal revenue for CCMC.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Public Electrical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488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Identifies leaning electric poles and vegetation encroachment near distribution transformers before monsoons, preventing power outages and electrocution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Nighttime Mobility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Pinpoints unlit poles and dark-spot intervals (&gt; 35m) to direct priority streetlight infill, enhancing pedestrian safety and women's nighttime mobility.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069080"/>
            <a:ext cx="5212080" cy="224028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3A50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2062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48E5C2"/>
                </a:solidFill>
                <a:latin typeface="Segoe UI"/>
              </a:defRPr>
            </a:pPr>
            <a:r>
              <a:t>100% Offline &amp; 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Runs locally on municipal infrastructure without third-party cloud lock-in. Every work order attaches verifiable image crops, eliminating departmental disputes.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